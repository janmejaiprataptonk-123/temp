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0" r:id="rId5"/>
    <p:sldId id="259" r:id="rId6"/>
    <p:sldId id="262" r:id="rId7"/>
    <p:sldId id="266" r:id="rId8"/>
    <p:sldId id="269" r:id="rId9"/>
    <p:sldId id="270" r:id="rId10"/>
    <p:sldId id="265" r:id="rId11"/>
    <p:sldId id="264" r:id="rId12"/>
    <p:sldId id="258" r:id="rId13"/>
    <p:sldId id="263" r:id="rId14"/>
    <p:sldId id="267" r:id="rId15"/>
    <p:sldId id="268"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C4C4B95-CB74-4DBC-B62D-9E61560AC036}" type="datetimeFigureOut">
              <a:rPr lang="en-IN" smtClean="0"/>
              <a:t>25-04-24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1903298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4C4B95-CB74-4DBC-B62D-9E61560AC036}" type="datetimeFigureOut">
              <a:rPr lang="en-IN" smtClean="0"/>
              <a:t>25-04-24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1243460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4C4B95-CB74-4DBC-B62D-9E61560AC036}" type="datetimeFigureOut">
              <a:rPr lang="en-IN" smtClean="0"/>
              <a:t>25-04-24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5983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C4C4B95-CB74-4DBC-B62D-9E61560AC036}" type="datetimeFigureOut">
              <a:rPr lang="en-IN" smtClean="0"/>
              <a:t>25-04-24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1255229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C4C4B95-CB74-4DBC-B62D-9E61560AC036}" type="datetimeFigureOut">
              <a:rPr lang="en-IN" smtClean="0"/>
              <a:t>25-04-24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2748124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C4C4B95-CB74-4DBC-B62D-9E61560AC036}" type="datetimeFigureOut">
              <a:rPr lang="en-IN" smtClean="0"/>
              <a:t>25-04-24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2634286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4C4B95-CB74-4DBC-B62D-9E61560AC036}" type="datetimeFigureOut">
              <a:rPr lang="en-IN" smtClean="0"/>
              <a:t>25-04-24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4004808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4C4B95-CB74-4DBC-B62D-9E61560AC036}" type="datetimeFigureOut">
              <a:rPr lang="en-IN" smtClean="0"/>
              <a:t>25-04-24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2429363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4C4B95-CB74-4DBC-B62D-9E61560AC036}" type="datetimeFigureOut">
              <a:rPr lang="en-IN" smtClean="0"/>
              <a:t>25-04-24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4056053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4C4B95-CB74-4DBC-B62D-9E61560AC036}" type="datetimeFigureOut">
              <a:rPr lang="en-IN" smtClean="0"/>
              <a:t>25-04-24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425634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4C4B95-CB74-4DBC-B62D-9E61560AC036}" type="datetimeFigureOut">
              <a:rPr lang="en-IN" smtClean="0"/>
              <a:t>25-04-24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D0EDCD-C5D9-4F44-83C6-9C4EA5C62F5B}" type="slidenum">
              <a:rPr lang="en-IN" smtClean="0"/>
              <a:t>‹#›</a:t>
            </a:fld>
            <a:endParaRPr lang="en-IN"/>
          </a:p>
        </p:txBody>
      </p:sp>
    </p:spTree>
    <p:extLst>
      <p:ext uri="{BB962C8B-B14F-4D97-AF65-F5344CB8AC3E}">
        <p14:creationId xmlns:p14="http://schemas.microsoft.com/office/powerpoint/2010/main" val="51908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4C4B95-CB74-4DBC-B62D-9E61560AC036}" type="datetimeFigureOut">
              <a:rPr lang="en-IN" smtClean="0"/>
              <a:t>25-04-24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0EDCD-C5D9-4F44-83C6-9C4EA5C62F5B}" type="slidenum">
              <a:rPr lang="en-IN" smtClean="0"/>
              <a:t>‹#›</a:t>
            </a:fld>
            <a:endParaRPr lang="en-IN"/>
          </a:p>
        </p:txBody>
      </p:sp>
    </p:spTree>
    <p:extLst>
      <p:ext uri="{BB962C8B-B14F-4D97-AF65-F5344CB8AC3E}">
        <p14:creationId xmlns:p14="http://schemas.microsoft.com/office/powerpoint/2010/main" val="1558356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98323"/>
          </a:xfrm>
        </p:spPr>
        <p:txBody>
          <a:bodyPr/>
          <a:lstStyle/>
          <a:p>
            <a:r>
              <a:rPr lang="en-IN" dirty="0" smtClean="0"/>
              <a:t>Joins</a:t>
            </a:r>
            <a:endParaRPr lang="en-IN" dirty="0"/>
          </a:p>
        </p:txBody>
      </p:sp>
      <p:sp>
        <p:nvSpPr>
          <p:cNvPr id="3" name="Subtitle 2"/>
          <p:cNvSpPr>
            <a:spLocks noGrp="1"/>
          </p:cNvSpPr>
          <p:nvPr>
            <p:ph type="subTitle" idx="1"/>
          </p:nvPr>
        </p:nvSpPr>
        <p:spPr>
          <a:xfrm>
            <a:off x="1524000" y="2534193"/>
            <a:ext cx="9144000" cy="3879669"/>
          </a:xfrm>
        </p:spPr>
        <p:txBody>
          <a:bodyPr>
            <a:normAutofit/>
          </a:bodyPr>
          <a:lstStyle/>
          <a:p>
            <a:pPr algn="l"/>
            <a:r>
              <a:rPr lang="en-GB" dirty="0" smtClean="0"/>
              <a:t>A JOIN clause is used to combine rows from two or more tables, based on a related column between them.</a:t>
            </a:r>
          </a:p>
          <a:p>
            <a:pPr algn="l"/>
            <a:endParaRPr lang="en-GB" dirty="0" smtClean="0"/>
          </a:p>
          <a:p>
            <a:pPr algn="l"/>
            <a:r>
              <a:rPr lang="en-GB" dirty="0" smtClean="0"/>
              <a:t>Let's look at a selection from the "Orders" table:</a:t>
            </a:r>
          </a:p>
          <a:p>
            <a:pPr algn="l"/>
            <a:endParaRPr lang="en-GB" dirty="0" smtClean="0"/>
          </a:p>
        </p:txBody>
      </p:sp>
      <p:graphicFrame>
        <p:nvGraphicFramePr>
          <p:cNvPr id="4" name="Table 3"/>
          <p:cNvGraphicFramePr>
            <a:graphicFrameLocks noGrp="1"/>
          </p:cNvGraphicFramePr>
          <p:nvPr>
            <p:extLst>
              <p:ext uri="{D42A27DB-BD31-4B8C-83A1-F6EECF244321}">
                <p14:modId xmlns:p14="http://schemas.microsoft.com/office/powerpoint/2010/main" val="3711401619"/>
              </p:ext>
            </p:extLst>
          </p:nvPr>
        </p:nvGraphicFramePr>
        <p:xfrm>
          <a:off x="1924869" y="4428308"/>
          <a:ext cx="8342261" cy="1706880"/>
        </p:xfrm>
        <a:graphic>
          <a:graphicData uri="http://schemas.openxmlformats.org/drawingml/2006/table">
            <a:tbl>
              <a:tblPr/>
              <a:tblGrid>
                <a:gridCol w="1249861">
                  <a:extLst>
                    <a:ext uri="{9D8B030D-6E8A-4147-A177-3AD203B41FA5}">
                      <a16:colId xmlns:a16="http://schemas.microsoft.com/office/drawing/2014/main" val="141410795"/>
                    </a:ext>
                  </a:extLst>
                </a:gridCol>
                <a:gridCol w="3546200">
                  <a:extLst>
                    <a:ext uri="{9D8B030D-6E8A-4147-A177-3AD203B41FA5}">
                      <a16:colId xmlns:a16="http://schemas.microsoft.com/office/drawing/2014/main" val="30884316"/>
                    </a:ext>
                  </a:extLst>
                </a:gridCol>
                <a:gridCol w="3546200">
                  <a:extLst>
                    <a:ext uri="{9D8B030D-6E8A-4147-A177-3AD203B41FA5}">
                      <a16:colId xmlns:a16="http://schemas.microsoft.com/office/drawing/2014/main" val="3766376709"/>
                    </a:ext>
                  </a:extLst>
                </a:gridCol>
              </a:tblGrid>
              <a:tr h="404949">
                <a:tc>
                  <a:txBody>
                    <a:bodyPr/>
                    <a:lstStyle/>
                    <a:p>
                      <a:pPr algn="l" fontAlgn="t"/>
                      <a:r>
                        <a:rPr lang="en-IN">
                          <a:effectLst/>
                        </a:rPr>
                        <a:t>OrderID</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CustomerID</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OrderDate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566002105"/>
                  </a:ext>
                </a:extLst>
              </a:tr>
              <a:tr h="404949">
                <a:tc>
                  <a:txBody>
                    <a:bodyPr/>
                    <a:lstStyle/>
                    <a:p>
                      <a:pPr algn="l" fontAlgn="t"/>
                      <a:r>
                        <a:rPr lang="en-IN">
                          <a:effectLst/>
                        </a:rPr>
                        <a:t>10308</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2</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dirty="0">
                          <a:effectLst/>
                        </a:rPr>
                        <a:t>1996-09-18</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844915862"/>
                  </a:ext>
                </a:extLst>
              </a:tr>
              <a:tr h="404949">
                <a:tc>
                  <a:txBody>
                    <a:bodyPr/>
                    <a:lstStyle/>
                    <a:p>
                      <a:pPr algn="l" fontAlgn="t"/>
                      <a:r>
                        <a:rPr lang="en-IN">
                          <a:effectLst/>
                        </a:rPr>
                        <a:t>10309</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37</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1996-09-19</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76695583"/>
                  </a:ext>
                </a:extLst>
              </a:tr>
              <a:tr h="404949">
                <a:tc>
                  <a:txBody>
                    <a:bodyPr/>
                    <a:lstStyle/>
                    <a:p>
                      <a:pPr algn="l" fontAlgn="t"/>
                      <a:r>
                        <a:rPr lang="en-IN">
                          <a:effectLst/>
                        </a:rPr>
                        <a:t>10310</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a:effectLst/>
                        </a:rPr>
                        <a:t>77</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dirty="0">
                          <a:effectLst/>
                        </a:rPr>
                        <a:t>1996-09-20</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1130040139"/>
                  </a:ext>
                </a:extLst>
              </a:tr>
            </a:tbl>
          </a:graphicData>
        </a:graphic>
      </p:graphicFrame>
    </p:spTree>
    <p:extLst>
      <p:ext uri="{BB962C8B-B14F-4D97-AF65-F5344CB8AC3E}">
        <p14:creationId xmlns:p14="http://schemas.microsoft.com/office/powerpoint/2010/main" val="381336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Joins</a:t>
            </a:r>
            <a:endParaRPr lang="en-IN" dirty="0"/>
          </a:p>
        </p:txBody>
      </p:sp>
      <p:sp>
        <p:nvSpPr>
          <p:cNvPr id="3" name="Content Placeholder 2"/>
          <p:cNvSpPr>
            <a:spLocks noGrp="1"/>
          </p:cNvSpPr>
          <p:nvPr>
            <p:ph idx="1"/>
          </p:nvPr>
        </p:nvSpPr>
        <p:spPr/>
        <p:txBody>
          <a:bodyPr/>
          <a:lstStyle/>
          <a:p>
            <a:endParaRPr lang="en-IN" dirty="0" smtClean="0"/>
          </a:p>
          <a:p>
            <a:endParaRPr lang="en-IN" dirty="0" smtClean="0"/>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613703487"/>
              </p:ext>
            </p:extLst>
          </p:nvPr>
        </p:nvGraphicFramePr>
        <p:xfrm>
          <a:off x="1924868" y="2736374"/>
          <a:ext cx="8342263" cy="2529840"/>
        </p:xfrm>
        <a:graphic>
          <a:graphicData uri="http://schemas.openxmlformats.org/drawingml/2006/table">
            <a:tbl>
              <a:tblPr/>
              <a:tblGrid>
                <a:gridCol w="1523726">
                  <a:extLst>
                    <a:ext uri="{9D8B030D-6E8A-4147-A177-3AD203B41FA5}">
                      <a16:colId xmlns:a16="http://schemas.microsoft.com/office/drawing/2014/main" val="1154580314"/>
                    </a:ext>
                  </a:extLst>
                </a:gridCol>
                <a:gridCol w="2090269">
                  <a:extLst>
                    <a:ext uri="{9D8B030D-6E8A-4147-A177-3AD203B41FA5}">
                      <a16:colId xmlns:a16="http://schemas.microsoft.com/office/drawing/2014/main" val="2922711337"/>
                    </a:ext>
                  </a:extLst>
                </a:gridCol>
                <a:gridCol w="2364134">
                  <a:extLst>
                    <a:ext uri="{9D8B030D-6E8A-4147-A177-3AD203B41FA5}">
                      <a16:colId xmlns:a16="http://schemas.microsoft.com/office/drawing/2014/main" val="911572656"/>
                    </a:ext>
                  </a:extLst>
                </a:gridCol>
                <a:gridCol w="2364134">
                  <a:extLst>
                    <a:ext uri="{9D8B030D-6E8A-4147-A177-3AD203B41FA5}">
                      <a16:colId xmlns:a16="http://schemas.microsoft.com/office/drawing/2014/main" val="3458299893"/>
                    </a:ext>
                  </a:extLst>
                </a:gridCol>
              </a:tblGrid>
              <a:tr h="0">
                <a:tc>
                  <a:txBody>
                    <a:bodyPr/>
                    <a:lstStyle/>
                    <a:p>
                      <a:pPr algn="l" fontAlgn="t"/>
                      <a:r>
                        <a:rPr lang="en-IN">
                          <a:effectLst/>
                        </a:rPr>
                        <a:t>CustomerID</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CustomerName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ContactName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dirty="0">
                          <a:effectLst/>
                        </a:rPr>
                        <a:t>Country</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034023461"/>
                  </a:ext>
                </a:extLst>
              </a:tr>
              <a:tr h="0">
                <a:tc>
                  <a:txBody>
                    <a:bodyPr/>
                    <a:lstStyle/>
                    <a:p>
                      <a:pPr algn="l" fontAlgn="t"/>
                      <a:r>
                        <a:rPr lang="en-IN">
                          <a:effectLst/>
                        </a:rPr>
                        <a:t>1</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Alfreds Futterkiste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Maria Anders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Germany</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414341880"/>
                  </a:ext>
                </a:extLst>
              </a:tr>
              <a:tr h="0">
                <a:tc>
                  <a:txBody>
                    <a:bodyPr/>
                    <a:lstStyle/>
                    <a:p>
                      <a:pPr algn="l" fontAlgn="t"/>
                      <a:r>
                        <a:rPr lang="en-IN">
                          <a:effectLst/>
                        </a:rPr>
                        <a:t>2</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s-ES">
                          <a:effectLst/>
                        </a:rPr>
                        <a:t>Ana Trujillo Emparedados y helados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Ana Trujillo</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Mexico</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562657043"/>
                  </a:ext>
                </a:extLst>
              </a:tr>
              <a:tr h="0">
                <a:tc>
                  <a:txBody>
                    <a:bodyPr/>
                    <a:lstStyle/>
                    <a:p>
                      <a:pPr algn="l" fontAlgn="t"/>
                      <a:r>
                        <a:rPr lang="en-IN">
                          <a:effectLst/>
                        </a:rPr>
                        <a:t>3</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a:effectLst/>
                        </a:rPr>
                        <a:t>Antonio Moreno Taquería</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a:effectLst/>
                        </a:rPr>
                        <a:t>Antonio Moreno</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dirty="0">
                          <a:effectLst/>
                        </a:rPr>
                        <a:t>Mexico</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3748106042"/>
                  </a:ext>
                </a:extLst>
              </a:tr>
            </a:tbl>
          </a:graphicData>
        </a:graphic>
      </p:graphicFrame>
    </p:spTree>
    <p:extLst>
      <p:ext uri="{BB962C8B-B14F-4D97-AF65-F5344CB8AC3E}">
        <p14:creationId xmlns:p14="http://schemas.microsoft.com/office/powerpoint/2010/main" val="1383153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Joins</a:t>
            </a:r>
            <a:endParaRPr lang="en-IN" dirty="0"/>
          </a:p>
        </p:txBody>
      </p:sp>
      <p:sp>
        <p:nvSpPr>
          <p:cNvPr id="3" name="Content Placeholder 2"/>
          <p:cNvSpPr>
            <a:spLocks noGrp="1"/>
          </p:cNvSpPr>
          <p:nvPr>
            <p:ph idx="1"/>
          </p:nvPr>
        </p:nvSpPr>
        <p:spPr/>
        <p:txBody>
          <a:bodyPr>
            <a:normAutofit lnSpcReduction="10000"/>
          </a:bodyPr>
          <a:lstStyle/>
          <a:p>
            <a:r>
              <a:rPr lang="en-GB" b="1" dirty="0" smtClean="0"/>
              <a:t>Different Types of SQL JOINs</a:t>
            </a:r>
          </a:p>
          <a:p>
            <a:pPr marL="0" indent="0">
              <a:buNone/>
            </a:pPr>
            <a:endParaRPr lang="en-GB" dirty="0" smtClean="0"/>
          </a:p>
          <a:p>
            <a:r>
              <a:rPr lang="en-GB" b="1" dirty="0" smtClean="0"/>
              <a:t>(INNER) JOIN</a:t>
            </a:r>
            <a:r>
              <a:rPr lang="en-GB" dirty="0" smtClean="0"/>
              <a:t>: Returns records that have matching values in both tables</a:t>
            </a:r>
          </a:p>
          <a:p>
            <a:r>
              <a:rPr lang="en-GB" b="1" dirty="0" smtClean="0"/>
              <a:t>LEFT (OUTER) JOIN</a:t>
            </a:r>
            <a:r>
              <a:rPr lang="en-GB" dirty="0" smtClean="0"/>
              <a:t>: Returns all records from the left table, and the matched records from the right table</a:t>
            </a:r>
          </a:p>
          <a:p>
            <a:r>
              <a:rPr lang="en-GB" b="1" dirty="0" smtClean="0"/>
              <a:t>RIGHT (OUTER) JOIN</a:t>
            </a:r>
            <a:r>
              <a:rPr lang="en-GB" dirty="0" smtClean="0"/>
              <a:t>: Returns all records from the right table, and the matched records from the left table</a:t>
            </a:r>
          </a:p>
          <a:p>
            <a:r>
              <a:rPr lang="en-GB" b="1" dirty="0" smtClean="0"/>
              <a:t>FULL (OUTER) JOIN</a:t>
            </a:r>
            <a:r>
              <a:rPr lang="en-GB" dirty="0" smtClean="0"/>
              <a:t>: Returns all records when there is a match in either left or right table</a:t>
            </a:r>
            <a:endParaRPr lang="en-IN" dirty="0"/>
          </a:p>
        </p:txBody>
      </p:sp>
    </p:spTree>
    <p:extLst>
      <p:ext uri="{BB962C8B-B14F-4D97-AF65-F5344CB8AC3E}">
        <p14:creationId xmlns:p14="http://schemas.microsoft.com/office/powerpoint/2010/main" val="4225579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Joins</a:t>
            </a:r>
            <a:endParaRPr lang="en-IN" dirty="0"/>
          </a:p>
        </p:txBody>
      </p:sp>
      <p:pic>
        <p:nvPicPr>
          <p:cNvPr id="4" name="Content Placeholder 3"/>
          <p:cNvPicPr>
            <a:picLocks noGrp="1" noChangeAspect="1"/>
          </p:cNvPicPr>
          <p:nvPr>
            <p:ph idx="1"/>
          </p:nvPr>
        </p:nvPicPr>
        <p:blipFill>
          <a:blip r:embed="rId2"/>
          <a:stretch>
            <a:fillRect/>
          </a:stretch>
        </p:blipFill>
        <p:spPr>
          <a:xfrm>
            <a:off x="1146265" y="2017508"/>
            <a:ext cx="1905000" cy="1381125"/>
          </a:xfrm>
          <a:prstGeom prst="rect">
            <a:avLst/>
          </a:prstGeom>
        </p:spPr>
      </p:pic>
      <p:pic>
        <p:nvPicPr>
          <p:cNvPr id="5" name="Picture 4"/>
          <p:cNvPicPr>
            <a:picLocks noChangeAspect="1"/>
          </p:cNvPicPr>
          <p:nvPr/>
        </p:nvPicPr>
        <p:blipFill>
          <a:blip r:embed="rId3"/>
          <a:stretch>
            <a:fillRect/>
          </a:stretch>
        </p:blipFill>
        <p:spPr>
          <a:xfrm>
            <a:off x="7912826" y="2034629"/>
            <a:ext cx="1905000" cy="1381125"/>
          </a:xfrm>
          <a:prstGeom prst="rect">
            <a:avLst/>
          </a:prstGeom>
        </p:spPr>
      </p:pic>
      <p:pic>
        <p:nvPicPr>
          <p:cNvPr id="6" name="Picture 5"/>
          <p:cNvPicPr>
            <a:picLocks noChangeAspect="1"/>
          </p:cNvPicPr>
          <p:nvPr/>
        </p:nvPicPr>
        <p:blipFill>
          <a:blip r:embed="rId4"/>
          <a:stretch>
            <a:fillRect/>
          </a:stretch>
        </p:blipFill>
        <p:spPr>
          <a:xfrm>
            <a:off x="1146265" y="4266791"/>
            <a:ext cx="1905000" cy="1381125"/>
          </a:xfrm>
          <a:prstGeom prst="rect">
            <a:avLst/>
          </a:prstGeom>
        </p:spPr>
      </p:pic>
      <p:pic>
        <p:nvPicPr>
          <p:cNvPr id="7" name="Picture 6"/>
          <p:cNvPicPr>
            <a:picLocks noChangeAspect="1"/>
          </p:cNvPicPr>
          <p:nvPr/>
        </p:nvPicPr>
        <p:blipFill>
          <a:blip r:embed="rId5"/>
          <a:stretch>
            <a:fillRect/>
          </a:stretch>
        </p:blipFill>
        <p:spPr>
          <a:xfrm>
            <a:off x="7908472" y="4266791"/>
            <a:ext cx="1905000" cy="1381125"/>
          </a:xfrm>
          <a:prstGeom prst="rect">
            <a:avLst/>
          </a:prstGeom>
        </p:spPr>
      </p:pic>
    </p:spTree>
    <p:extLst>
      <p:ext uri="{BB962C8B-B14F-4D97-AF65-F5344CB8AC3E}">
        <p14:creationId xmlns:p14="http://schemas.microsoft.com/office/powerpoint/2010/main" val="2297124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Joins</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GB" b="1" dirty="0"/>
              <a:t>SQL INNER JOIN Keyword</a:t>
            </a:r>
          </a:p>
          <a:p>
            <a:r>
              <a:rPr lang="en-GB" dirty="0"/>
              <a:t>The INNER JOIN keyword selects records that have matching values in both tables.</a:t>
            </a:r>
          </a:p>
          <a:p>
            <a:endParaRPr lang="en-GB" dirty="0"/>
          </a:p>
          <a:p>
            <a:r>
              <a:rPr lang="en-GB" dirty="0"/>
              <a:t>INNER JOIN Syntax</a:t>
            </a:r>
          </a:p>
          <a:p>
            <a:pPr marL="0" indent="0">
              <a:buNone/>
            </a:pPr>
            <a:r>
              <a:rPr lang="en-GB" dirty="0"/>
              <a:t>SELECT </a:t>
            </a:r>
            <a:r>
              <a:rPr lang="en-GB" dirty="0" err="1"/>
              <a:t>column_name</a:t>
            </a:r>
            <a:r>
              <a:rPr lang="en-GB" dirty="0"/>
              <a:t>(s)</a:t>
            </a:r>
          </a:p>
          <a:p>
            <a:pPr marL="0" indent="0">
              <a:buNone/>
            </a:pPr>
            <a:r>
              <a:rPr lang="en-GB" dirty="0"/>
              <a:t>FROM table1</a:t>
            </a:r>
          </a:p>
          <a:p>
            <a:pPr marL="0" indent="0">
              <a:buNone/>
            </a:pPr>
            <a:r>
              <a:rPr lang="en-GB" dirty="0"/>
              <a:t>INNER JOIN table2</a:t>
            </a:r>
          </a:p>
          <a:p>
            <a:pPr marL="0" indent="0">
              <a:buNone/>
            </a:pPr>
            <a:r>
              <a:rPr lang="en-GB" dirty="0"/>
              <a:t>ON table1.column_name = table2.column_name;</a:t>
            </a:r>
            <a:endParaRPr lang="en-IN" dirty="0"/>
          </a:p>
        </p:txBody>
      </p:sp>
    </p:spTree>
    <p:extLst>
      <p:ext uri="{BB962C8B-B14F-4D97-AF65-F5344CB8AC3E}">
        <p14:creationId xmlns:p14="http://schemas.microsoft.com/office/powerpoint/2010/main" val="692225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lstStyle/>
          <a:p>
            <a:r>
              <a:rPr lang="en-GB" b="1" dirty="0"/>
              <a:t>SQL LEFT JOIN Keyword</a:t>
            </a:r>
          </a:p>
          <a:p>
            <a:r>
              <a:rPr lang="en-GB" dirty="0"/>
              <a:t>The LEFT JOIN keyword returns all records from the left table (table1), and the matching records from the right table (table2). The result is 0 records from the right side, if there is no match</a:t>
            </a:r>
            <a:r>
              <a:rPr lang="en-GB" dirty="0" smtClean="0"/>
              <a:t>.</a:t>
            </a:r>
          </a:p>
          <a:p>
            <a:endParaRPr lang="en-IN" dirty="0"/>
          </a:p>
        </p:txBody>
      </p:sp>
    </p:spTree>
    <p:extLst>
      <p:ext uri="{BB962C8B-B14F-4D97-AF65-F5344CB8AC3E}">
        <p14:creationId xmlns:p14="http://schemas.microsoft.com/office/powerpoint/2010/main" val="3259221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lstStyle/>
          <a:p>
            <a:r>
              <a:rPr lang="en-GB" b="1" dirty="0"/>
              <a:t>LEFT JOIN </a:t>
            </a:r>
            <a:r>
              <a:rPr lang="en-GB" b="1" dirty="0" smtClean="0"/>
              <a:t>Syntax</a:t>
            </a:r>
          </a:p>
          <a:p>
            <a:endParaRPr lang="en-GB" b="1" dirty="0"/>
          </a:p>
          <a:p>
            <a:pPr marL="0" indent="0">
              <a:buNone/>
            </a:pPr>
            <a:r>
              <a:rPr lang="en-GB" dirty="0"/>
              <a:t>SELECT </a:t>
            </a:r>
            <a:r>
              <a:rPr lang="en-GB" dirty="0" err="1"/>
              <a:t>column_name</a:t>
            </a:r>
            <a:r>
              <a:rPr lang="en-GB" dirty="0"/>
              <a:t>(s)</a:t>
            </a:r>
          </a:p>
          <a:p>
            <a:pPr marL="0" indent="0">
              <a:buNone/>
            </a:pPr>
            <a:r>
              <a:rPr lang="en-GB" dirty="0"/>
              <a:t>FROM table1</a:t>
            </a:r>
          </a:p>
          <a:p>
            <a:pPr marL="0" indent="0">
              <a:buNone/>
            </a:pPr>
            <a:r>
              <a:rPr lang="en-GB" dirty="0"/>
              <a:t>LEFT JOIN table2</a:t>
            </a:r>
          </a:p>
          <a:p>
            <a:pPr marL="0" indent="0">
              <a:buNone/>
            </a:pPr>
            <a:r>
              <a:rPr lang="en-GB" dirty="0"/>
              <a:t>ON table1.column_name = table2.column_name;</a:t>
            </a:r>
            <a:endParaRPr lang="en-IN" dirty="0"/>
          </a:p>
        </p:txBody>
      </p:sp>
    </p:spTree>
    <p:extLst>
      <p:ext uri="{BB962C8B-B14F-4D97-AF65-F5344CB8AC3E}">
        <p14:creationId xmlns:p14="http://schemas.microsoft.com/office/powerpoint/2010/main" val="2407952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lstStyle/>
          <a:p>
            <a:r>
              <a:rPr lang="en-GB" b="1" dirty="0"/>
              <a:t>SQL RIGHT JOIN Keyword</a:t>
            </a:r>
          </a:p>
          <a:p>
            <a:r>
              <a:rPr lang="en-GB" dirty="0"/>
              <a:t>The RIGHT JOIN keyword returns all records from the right table </a:t>
            </a:r>
            <a:r>
              <a:rPr lang="en-GB" dirty="0" smtClean="0"/>
              <a:t>, </a:t>
            </a:r>
            <a:r>
              <a:rPr lang="en-GB" dirty="0"/>
              <a:t>and the matching records from the left </a:t>
            </a:r>
            <a:r>
              <a:rPr lang="en-GB" dirty="0" smtClean="0"/>
              <a:t>table. </a:t>
            </a:r>
          </a:p>
          <a:p>
            <a:r>
              <a:rPr lang="en-GB" dirty="0" smtClean="0"/>
              <a:t>The </a:t>
            </a:r>
            <a:r>
              <a:rPr lang="en-GB" dirty="0"/>
              <a:t>result is 0 records from the left side, if there is no match.</a:t>
            </a:r>
            <a:endParaRPr lang="en-IN" dirty="0"/>
          </a:p>
        </p:txBody>
      </p:sp>
    </p:spTree>
    <p:extLst>
      <p:ext uri="{BB962C8B-B14F-4D97-AF65-F5344CB8AC3E}">
        <p14:creationId xmlns:p14="http://schemas.microsoft.com/office/powerpoint/2010/main" val="2932164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lstStyle/>
          <a:p>
            <a:r>
              <a:rPr lang="en-GB" b="1" dirty="0"/>
              <a:t>RIGHT JOIN </a:t>
            </a:r>
            <a:r>
              <a:rPr lang="en-GB" b="1" dirty="0" smtClean="0"/>
              <a:t>Syntax</a:t>
            </a:r>
          </a:p>
          <a:p>
            <a:endParaRPr lang="en-GB" b="1" dirty="0"/>
          </a:p>
          <a:p>
            <a:pPr marL="0" indent="0">
              <a:buNone/>
            </a:pPr>
            <a:r>
              <a:rPr lang="en-GB" dirty="0"/>
              <a:t>SELECT </a:t>
            </a:r>
            <a:r>
              <a:rPr lang="en-GB" dirty="0" err="1"/>
              <a:t>column_name</a:t>
            </a:r>
            <a:r>
              <a:rPr lang="en-GB" dirty="0"/>
              <a:t>(s)</a:t>
            </a:r>
          </a:p>
          <a:p>
            <a:pPr marL="0" indent="0">
              <a:buNone/>
            </a:pPr>
            <a:r>
              <a:rPr lang="en-GB" dirty="0"/>
              <a:t>FROM table1</a:t>
            </a:r>
          </a:p>
          <a:p>
            <a:pPr marL="0" indent="0">
              <a:buNone/>
            </a:pPr>
            <a:r>
              <a:rPr lang="en-GB" dirty="0"/>
              <a:t>RIGHT JOIN table2</a:t>
            </a:r>
          </a:p>
          <a:p>
            <a:pPr marL="0" indent="0">
              <a:buNone/>
            </a:pPr>
            <a:r>
              <a:rPr lang="en-GB" dirty="0"/>
              <a:t>ON table1.column_name = table2.column_name;</a:t>
            </a:r>
            <a:endParaRPr lang="en-IN" dirty="0"/>
          </a:p>
        </p:txBody>
      </p:sp>
    </p:spTree>
    <p:extLst>
      <p:ext uri="{BB962C8B-B14F-4D97-AF65-F5344CB8AC3E}">
        <p14:creationId xmlns:p14="http://schemas.microsoft.com/office/powerpoint/2010/main" val="4048521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normAutofit lnSpcReduction="10000"/>
          </a:bodyPr>
          <a:lstStyle/>
          <a:p>
            <a:r>
              <a:rPr lang="en-GB" b="1" dirty="0"/>
              <a:t>SQL FULL OUTER JOIN Keyword</a:t>
            </a:r>
          </a:p>
          <a:p>
            <a:r>
              <a:rPr lang="en-GB" dirty="0"/>
              <a:t>The FULL OUTER JOIN keyword returns all records when there is a match in left (table1) or right (table2) table records.</a:t>
            </a:r>
          </a:p>
          <a:p>
            <a:endParaRPr lang="en-GB" dirty="0"/>
          </a:p>
          <a:p>
            <a:r>
              <a:rPr lang="en-GB" dirty="0" smtClean="0"/>
              <a:t> </a:t>
            </a:r>
            <a:r>
              <a:rPr lang="en-GB" dirty="0"/>
              <a:t>FULL OUTER JOIN and FULL JOIN are the same</a:t>
            </a:r>
            <a:r>
              <a:rPr lang="en-GB" dirty="0" smtClean="0"/>
              <a:t>.</a:t>
            </a:r>
          </a:p>
          <a:p>
            <a:r>
              <a:rPr lang="en-GB" dirty="0"/>
              <a:t>The FULL OUTER JOIN keyword returns all matching records from both tables whether the other table matches or not. So, if there are rows in "Customers" that do not have matches in "Orders", or if there are rows in "Orders" that do not have matches in "Customers", those rows will be listed as well.</a:t>
            </a:r>
          </a:p>
          <a:p>
            <a:endParaRPr lang="en-GB" dirty="0"/>
          </a:p>
          <a:p>
            <a:endParaRPr lang="en-IN" dirty="0"/>
          </a:p>
        </p:txBody>
      </p:sp>
    </p:spTree>
    <p:extLst>
      <p:ext uri="{BB962C8B-B14F-4D97-AF65-F5344CB8AC3E}">
        <p14:creationId xmlns:p14="http://schemas.microsoft.com/office/powerpoint/2010/main" val="2925967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lstStyle/>
          <a:p>
            <a:pPr marL="0" indent="0">
              <a:buNone/>
            </a:pPr>
            <a:r>
              <a:rPr lang="en-GB" b="1" dirty="0"/>
              <a:t>FULL OUTER JOIN </a:t>
            </a:r>
            <a:r>
              <a:rPr lang="en-GB" b="1" dirty="0" smtClean="0"/>
              <a:t>Syntax</a:t>
            </a:r>
          </a:p>
          <a:p>
            <a:pPr marL="0" indent="0">
              <a:buNone/>
            </a:pPr>
            <a:endParaRPr lang="en-GB" b="1" dirty="0"/>
          </a:p>
          <a:p>
            <a:pPr marL="0" indent="0">
              <a:buNone/>
            </a:pPr>
            <a:r>
              <a:rPr lang="en-GB" dirty="0"/>
              <a:t>SELECT </a:t>
            </a:r>
            <a:r>
              <a:rPr lang="en-GB" dirty="0" err="1"/>
              <a:t>column_name</a:t>
            </a:r>
            <a:r>
              <a:rPr lang="en-GB" dirty="0"/>
              <a:t>(s)</a:t>
            </a:r>
          </a:p>
          <a:p>
            <a:pPr marL="0" indent="0">
              <a:buNone/>
            </a:pPr>
            <a:r>
              <a:rPr lang="en-GB" dirty="0"/>
              <a:t>FROM table1</a:t>
            </a:r>
          </a:p>
          <a:p>
            <a:pPr marL="0" indent="0">
              <a:buNone/>
            </a:pPr>
            <a:r>
              <a:rPr lang="en-GB" dirty="0"/>
              <a:t>FULL OUTER JOIN table2</a:t>
            </a:r>
          </a:p>
          <a:p>
            <a:pPr marL="0" indent="0">
              <a:buNone/>
            </a:pPr>
            <a:r>
              <a:rPr lang="en-GB" dirty="0"/>
              <a:t>ON table1.column_name = table2.column_name</a:t>
            </a:r>
          </a:p>
          <a:p>
            <a:pPr marL="0" indent="0">
              <a:buNone/>
            </a:pPr>
            <a:r>
              <a:rPr lang="en-GB" dirty="0"/>
              <a:t>WHERE condition;</a:t>
            </a:r>
            <a:endParaRPr lang="en-IN" dirty="0"/>
          </a:p>
        </p:txBody>
      </p:sp>
    </p:spTree>
    <p:extLst>
      <p:ext uri="{BB962C8B-B14F-4D97-AF65-F5344CB8AC3E}">
        <p14:creationId xmlns:p14="http://schemas.microsoft.com/office/powerpoint/2010/main" val="2370061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Joins</a:t>
            </a:r>
            <a:endParaRPr lang="en-IN"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GB" dirty="0"/>
              <a:t>S</a:t>
            </a:r>
            <a:r>
              <a:rPr lang="en-GB" dirty="0" smtClean="0"/>
              <a:t>elect all records from the two tables where there is a match in both tables.</a:t>
            </a:r>
          </a:p>
          <a:p>
            <a:pPr marL="0" indent="0">
              <a:buNone/>
            </a:pPr>
            <a:r>
              <a:rPr lang="en-GB" dirty="0" smtClean="0"/>
              <a:t>2.</a:t>
            </a:r>
            <a:r>
              <a:rPr lang="en-GB" dirty="0"/>
              <a:t> </a:t>
            </a:r>
            <a:r>
              <a:rPr lang="en-GB" dirty="0" smtClean="0"/>
              <a:t>Select all the records from the Customers table plus all the matches </a:t>
            </a:r>
          </a:p>
          <a:p>
            <a:pPr marL="0" indent="0">
              <a:buNone/>
            </a:pPr>
            <a:r>
              <a:rPr lang="en-GB" dirty="0"/>
              <a:t> </a:t>
            </a:r>
            <a:r>
              <a:rPr lang="en-GB" dirty="0" smtClean="0"/>
              <a:t>   in the Orders table.</a:t>
            </a:r>
          </a:p>
          <a:p>
            <a:pPr marL="0" indent="0">
              <a:buNone/>
            </a:pPr>
            <a:r>
              <a:rPr lang="en-GB" dirty="0"/>
              <a:t>3. S</a:t>
            </a:r>
            <a:r>
              <a:rPr lang="en-GB" dirty="0" smtClean="0"/>
              <a:t>elect </a:t>
            </a:r>
            <a:r>
              <a:rPr lang="en-GB" dirty="0"/>
              <a:t>all customers, and any orders they might </a:t>
            </a:r>
            <a:r>
              <a:rPr lang="en-GB" dirty="0" smtClean="0"/>
              <a:t>have</a:t>
            </a:r>
          </a:p>
          <a:p>
            <a:pPr marL="0" indent="0">
              <a:buNone/>
            </a:pPr>
            <a:r>
              <a:rPr lang="en-GB" dirty="0" smtClean="0"/>
              <a:t>4. </a:t>
            </a:r>
            <a:r>
              <a:rPr lang="en-GB" dirty="0"/>
              <a:t>Select all employees, and any orders they might have </a:t>
            </a:r>
            <a:r>
              <a:rPr lang="en-GB" dirty="0" smtClean="0"/>
              <a:t>placed.</a:t>
            </a:r>
          </a:p>
          <a:p>
            <a:pPr marL="0" indent="0">
              <a:buNone/>
            </a:pPr>
            <a:r>
              <a:rPr lang="en-GB" dirty="0"/>
              <a:t>5. </a:t>
            </a:r>
            <a:r>
              <a:rPr lang="en-GB" dirty="0" smtClean="0"/>
              <a:t>Select </a:t>
            </a:r>
            <a:r>
              <a:rPr lang="en-GB" dirty="0"/>
              <a:t>all the records from the Customers table plus all the matches </a:t>
            </a:r>
            <a:endParaRPr lang="en-GB" dirty="0" smtClean="0"/>
          </a:p>
          <a:p>
            <a:pPr marL="0" indent="0">
              <a:buNone/>
            </a:pPr>
            <a:r>
              <a:rPr lang="en-GB" dirty="0"/>
              <a:t> </a:t>
            </a:r>
            <a:r>
              <a:rPr lang="en-GB" dirty="0" smtClean="0"/>
              <a:t>   in </a:t>
            </a:r>
            <a:r>
              <a:rPr lang="en-GB" dirty="0"/>
              <a:t>the Orders table</a:t>
            </a:r>
            <a:r>
              <a:rPr lang="en-GB" dirty="0" smtClean="0"/>
              <a:t>.</a:t>
            </a:r>
          </a:p>
          <a:p>
            <a:pPr marL="0" indent="0">
              <a:buNone/>
            </a:pPr>
            <a:r>
              <a:rPr lang="en-GB" dirty="0"/>
              <a:t>6. Select all customers, and all orders</a:t>
            </a:r>
          </a:p>
          <a:p>
            <a:pPr marL="0" indent="0">
              <a:buNone/>
            </a:pPr>
            <a:endParaRPr lang="en-GB" dirty="0" smtClean="0"/>
          </a:p>
          <a:p>
            <a:endParaRPr lang="en-IN" dirty="0"/>
          </a:p>
        </p:txBody>
      </p:sp>
    </p:spTree>
    <p:extLst>
      <p:ext uri="{BB962C8B-B14F-4D97-AF65-F5344CB8AC3E}">
        <p14:creationId xmlns:p14="http://schemas.microsoft.com/office/powerpoint/2010/main" val="3423082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Joins</a:t>
            </a:r>
          </a:p>
        </p:txBody>
      </p:sp>
      <p:sp>
        <p:nvSpPr>
          <p:cNvPr id="3" name="Content Placeholder 2"/>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3073023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Joins</a:t>
            </a: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254315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Joins</a:t>
            </a: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874367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Joins</a:t>
            </a: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125651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541</Words>
  <Application>Microsoft Office PowerPoint</Application>
  <PresentationFormat>Widescreen</PresentationFormat>
  <Paragraphs>99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Joins</vt:lpstr>
      <vt:lpstr>Joins</vt:lpstr>
      <vt:lpstr>Joins</vt:lpstr>
      <vt:lpstr>Joins</vt:lpstr>
      <vt:lpstr>Joins</vt:lpstr>
      <vt:lpstr>Joins</vt:lpstr>
      <vt:lpstr>Joins</vt:lpstr>
      <vt:lpstr>Joins</vt:lpstr>
      <vt:lpstr>Joins</vt:lpstr>
      <vt:lpstr>Joins</vt:lpstr>
      <vt:lpstr>Joins</vt:lpstr>
      <vt:lpstr>Joins</vt:lpstr>
      <vt:lpstr>Joins</vt:lpstr>
      <vt:lpstr>Joins</vt:lpstr>
      <vt:lpstr>Joins</vt:lpstr>
      <vt:lpstr>Joins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Joins</dc:title>
  <dc:creator>Tejaswi Garg</dc:creator>
  <cp:lastModifiedBy>Navin Garg</cp:lastModifiedBy>
  <cp:revision>30</cp:revision>
  <dcterms:created xsi:type="dcterms:W3CDTF">2023-08-28T06:04:27Z</dcterms:created>
  <dcterms:modified xsi:type="dcterms:W3CDTF">2024-04-25T04:34:15Z</dcterms:modified>
</cp:coreProperties>
</file>