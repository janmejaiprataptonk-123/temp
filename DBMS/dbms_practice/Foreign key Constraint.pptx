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802B2-2BDC-6346-7D0B-21883BAB4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5F13B-ED9A-3BAD-54EF-745C989E0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69CD-302D-AE76-9201-52F63543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F5646-E3CF-D150-B7B7-EF4439FB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8C435-31CF-ABD1-364A-B6281C7B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75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C914-E5A9-2235-A116-8425E5FD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2E6A3-B2DC-A20F-139A-E6E8EC8BF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95D5-20CB-F4F8-47FA-68E367DB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6274-911A-4668-57D8-C4ABE872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E203B-DC47-6679-21E5-7E39F565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04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ADA0-95A0-ECBC-6BE0-C5C1B0BD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238A2-13C0-EC92-1125-D25006F46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40215-A0D0-E47D-7B7C-9A795FF2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CD534-E3A3-007F-8754-DA9AF9CE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BA09-8561-D0FE-8FCD-40D20240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82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B756-0574-3EEC-9A0C-FB48A311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DC96C-286B-77B3-F185-0D801BD1C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B68C0-322A-595C-A521-51A46957F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E5C01-3C8F-FF8C-C280-BD479147F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F18A1-AA97-4A42-E687-DF19EC39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42F9E-52BD-CE39-CFF9-A974FA0A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36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5F6F-48F4-0D55-86E4-BF73EC63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BEF50-4738-4289-BCE1-D8A2E2076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900B7-92CF-8A5B-6CE1-C03545EA1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E4765-DDB8-2F12-2B33-D4EABD9A8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3FE0E-A686-704B-BB4F-C9E5BC4C4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57627-9710-4E50-48B4-099A4CC03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C816A-E98A-2BB6-32F9-BC48197A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466F7-2018-E2F0-BD1A-BEFA746F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18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F137-E842-399C-58E0-1561A833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36C9-92A4-5336-4D3C-97697F78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AF211-F64D-3526-E378-178B38F7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B7162-1F09-94D2-2377-4CBA03DF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2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0DACB-C687-3797-100D-E4C4549C8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09E4B-37D9-EE50-F885-8D4751DF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9981B-B731-0A7B-9051-792FE50A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0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0615-97D2-4156-AED5-5B5E8C02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514C-39CC-936D-313C-BCA0F7CF0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49122-E0D0-74B3-9A6C-B9F037B6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49874-54DD-AA48-F15E-798FA682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4BA5B-E0E0-F55A-3C8C-6B05ECBA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6AAA5-DDA0-6295-4671-A7FD9157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56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0400-AADC-927E-B1A4-A0B3A2F0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C86D0-2BA8-BE37-4C3C-A5FB61FD8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133AA-0205-8202-20DD-F6C768B1E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0B613-3B7D-1C28-A7B5-E68A6899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4C8AE-4CD3-3381-B0AA-E8F79CB2E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2152E-6EC3-AB79-B65D-103F036C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70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10DF-BE66-7FA3-45C5-696F2A43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BB8A1-CE9A-C2DE-2149-6F70E0EFA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3EE76-2BB4-2F62-08B2-AB128604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B5D6-2344-D5C2-02ED-41D8155B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D88D-0A44-8B75-DC38-432E17D7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15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C0F3F-8025-549E-D578-F45D3028F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4AF45-982B-8584-299C-EF6A63E62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A6635-CBD3-1BE1-1718-023D8E4E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2B6C-3867-B252-F1C7-38854231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BCD9-9B6A-0C2B-4F6B-4246D8CC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77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EEDDA-6DF4-FA27-D6A3-DD173E95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D3F85-F7DD-3D30-BEA1-68E08AA71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1F2F4-D19B-9D74-3A2B-8C13A33F4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2F10D-6E6D-4732-B7D9-C305A3BC36D3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701DF-2985-34F2-7C77-0629F975A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4B2BF-B94E-42FA-506B-FFD4E63AD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F4750-C663-4531-8458-D4F77F009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3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2288-EFF2-9C6B-9CDE-E3108D1A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EADEB-ADCE-9B97-295C-97C655755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3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6CB5-20BF-848E-9EF5-10879ADF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B1CF7-132C-AC09-BBEE-F45DF3E1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FOREIGN KEY constraint establishes a link between two tables.</a:t>
            </a:r>
          </a:p>
          <a:p>
            <a:endParaRPr lang="en-US" dirty="0"/>
          </a:p>
          <a:p>
            <a:r>
              <a:rPr lang="en-US" dirty="0"/>
              <a:t>A FOREIGN KEY is a column in a table that refers to the PRIMARY KEY in another table.</a:t>
            </a:r>
          </a:p>
          <a:p>
            <a:endParaRPr lang="en-US" dirty="0"/>
          </a:p>
          <a:p>
            <a:r>
              <a:rPr lang="en-US" dirty="0"/>
              <a:t>The table with the foreign key column is called the child table, and the table with the primary key column is called the referenced or parent table.</a:t>
            </a:r>
          </a:p>
          <a:p>
            <a:endParaRPr lang="en-US" dirty="0"/>
          </a:p>
          <a:p>
            <a:r>
              <a:rPr lang="en-US" dirty="0"/>
              <a:t>The FOREIGN KEY constraint prevents invalid data from being inserted into the foreign key column (in the child table), because the value has to exist in the parent table.</a:t>
            </a:r>
          </a:p>
          <a:p>
            <a:endParaRPr lang="en-US" dirty="0"/>
          </a:p>
          <a:p>
            <a:r>
              <a:rPr lang="en-US" dirty="0"/>
              <a:t>The FOREIGN KEY constraint also prevents you from deleting a record in the parent table, if related rows still exist in the child table.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38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C01B-6DA8-F528-5E76-6290D124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11313F-863C-0AA0-5708-C07A605AB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549395"/>
              </p:ext>
            </p:extLst>
          </p:nvPr>
        </p:nvGraphicFramePr>
        <p:xfrm>
          <a:off x="2054942" y="2104103"/>
          <a:ext cx="7118556" cy="1188720"/>
        </p:xfrm>
        <a:graphic>
          <a:graphicData uri="http://schemas.openxmlformats.org/drawingml/2006/table">
            <a:tbl>
              <a:tblPr/>
              <a:tblGrid>
                <a:gridCol w="1779639">
                  <a:extLst>
                    <a:ext uri="{9D8B030D-6E8A-4147-A177-3AD203B41FA5}">
                      <a16:colId xmlns:a16="http://schemas.microsoft.com/office/drawing/2014/main" val="3851808686"/>
                    </a:ext>
                  </a:extLst>
                </a:gridCol>
                <a:gridCol w="1779639">
                  <a:extLst>
                    <a:ext uri="{9D8B030D-6E8A-4147-A177-3AD203B41FA5}">
                      <a16:colId xmlns:a16="http://schemas.microsoft.com/office/drawing/2014/main" val="2992437336"/>
                    </a:ext>
                  </a:extLst>
                </a:gridCol>
                <a:gridCol w="1779639">
                  <a:extLst>
                    <a:ext uri="{9D8B030D-6E8A-4147-A177-3AD203B41FA5}">
                      <a16:colId xmlns:a16="http://schemas.microsoft.com/office/drawing/2014/main" val="726914974"/>
                    </a:ext>
                  </a:extLst>
                </a:gridCol>
                <a:gridCol w="1779639">
                  <a:extLst>
                    <a:ext uri="{9D8B030D-6E8A-4147-A177-3AD203B41FA5}">
                      <a16:colId xmlns:a16="http://schemas.microsoft.com/office/drawing/2014/main" val="3443755828"/>
                    </a:ext>
                  </a:extLst>
                </a:gridCol>
              </a:tblGrid>
              <a:tr h="35024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PersonID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LastName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FirstName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Age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33633"/>
                  </a:ext>
                </a:extLst>
              </a:tr>
              <a:tr h="35024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Hansen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Ola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30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809985"/>
                  </a:ext>
                </a:extLst>
              </a:tr>
              <a:tr h="35024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Svendson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Tove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23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8068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906FDE-2DBF-4922-1D8F-27604352FC13}"/>
              </a:ext>
            </a:extLst>
          </p:cNvPr>
          <p:cNvSpPr txBox="1"/>
          <p:nvPr/>
        </p:nvSpPr>
        <p:spPr>
          <a:xfrm>
            <a:off x="2244624" y="15753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Persons Table</a:t>
            </a:r>
          </a:p>
        </p:txBody>
      </p:sp>
    </p:spTree>
    <p:extLst>
      <p:ext uri="{BB962C8B-B14F-4D97-AF65-F5344CB8AC3E}">
        <p14:creationId xmlns:p14="http://schemas.microsoft.com/office/powerpoint/2010/main" val="185211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1791-0498-A38C-9BE0-B89122F0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586924-C638-8032-6CD9-B8C64EE32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626438"/>
              </p:ext>
            </p:extLst>
          </p:nvPr>
        </p:nvGraphicFramePr>
        <p:xfrm>
          <a:off x="2458065" y="2674374"/>
          <a:ext cx="5673212" cy="1632156"/>
        </p:xfrm>
        <a:graphic>
          <a:graphicData uri="http://schemas.openxmlformats.org/drawingml/2006/table">
            <a:tbl>
              <a:tblPr/>
              <a:tblGrid>
                <a:gridCol w="1880702">
                  <a:extLst>
                    <a:ext uri="{9D8B030D-6E8A-4147-A177-3AD203B41FA5}">
                      <a16:colId xmlns:a16="http://schemas.microsoft.com/office/drawing/2014/main" val="2987340945"/>
                    </a:ext>
                  </a:extLst>
                </a:gridCol>
                <a:gridCol w="1901439">
                  <a:extLst>
                    <a:ext uri="{9D8B030D-6E8A-4147-A177-3AD203B41FA5}">
                      <a16:colId xmlns:a16="http://schemas.microsoft.com/office/drawing/2014/main" val="1196953191"/>
                    </a:ext>
                  </a:extLst>
                </a:gridCol>
                <a:gridCol w="1891071">
                  <a:extLst>
                    <a:ext uri="{9D8B030D-6E8A-4147-A177-3AD203B41FA5}">
                      <a16:colId xmlns:a16="http://schemas.microsoft.com/office/drawing/2014/main" val="1180348111"/>
                    </a:ext>
                  </a:extLst>
                </a:gridCol>
              </a:tblGrid>
              <a:tr h="54405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OrderID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OrderNumber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PersonID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06301"/>
                  </a:ext>
                </a:extLst>
              </a:tr>
              <a:tr h="54405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22456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929097"/>
                  </a:ext>
                </a:extLst>
              </a:tr>
              <a:tr h="54405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24562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8818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4A733F-A8CE-377B-7128-AF15C9BFBE66}"/>
              </a:ext>
            </a:extLst>
          </p:cNvPr>
          <p:cNvSpPr txBox="1"/>
          <p:nvPr/>
        </p:nvSpPr>
        <p:spPr>
          <a:xfrm>
            <a:off x="1435509" y="18506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Orders Table</a:t>
            </a:r>
          </a:p>
        </p:txBody>
      </p:sp>
    </p:spTree>
    <p:extLst>
      <p:ext uri="{BB962C8B-B14F-4D97-AF65-F5344CB8AC3E}">
        <p14:creationId xmlns:p14="http://schemas.microsoft.com/office/powerpoint/2010/main" val="145700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64F5-2955-DB7E-CA08-D5A77A4C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AFCD6-C281-B34B-5420-A81BDDC10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we see that the "</a:t>
            </a:r>
            <a:r>
              <a:rPr lang="en-US" dirty="0" err="1"/>
              <a:t>PersonID</a:t>
            </a:r>
            <a:r>
              <a:rPr lang="en-US" dirty="0"/>
              <a:t>" column in the "Orders" table points to the "</a:t>
            </a:r>
            <a:r>
              <a:rPr lang="en-US" dirty="0" err="1"/>
              <a:t>PersonID</a:t>
            </a:r>
            <a:r>
              <a:rPr lang="en-US" dirty="0"/>
              <a:t>" column in the "Persons" table.</a:t>
            </a:r>
          </a:p>
          <a:p>
            <a:endParaRPr lang="en-US" dirty="0"/>
          </a:p>
          <a:p>
            <a:r>
              <a:rPr lang="en-US" dirty="0"/>
              <a:t>The "</a:t>
            </a:r>
            <a:r>
              <a:rPr lang="en-US" dirty="0" err="1"/>
              <a:t>PersonID</a:t>
            </a:r>
            <a:r>
              <a:rPr lang="en-US" dirty="0"/>
              <a:t>" column in the "Persons" table is the PRIMARY KEY in the "Persons" table.</a:t>
            </a:r>
          </a:p>
          <a:p>
            <a:endParaRPr lang="en-US" dirty="0"/>
          </a:p>
          <a:p>
            <a:r>
              <a:rPr lang="en-US" dirty="0"/>
              <a:t>The "</a:t>
            </a:r>
            <a:r>
              <a:rPr lang="en-US" dirty="0" err="1"/>
              <a:t>PersonID</a:t>
            </a:r>
            <a:r>
              <a:rPr lang="en-US" dirty="0"/>
              <a:t>" column in the "Orders" table is the FOREIGN KEY in the "Orders" table.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22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FBDC-BCE0-5243-6D40-D91A1460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AD97-64EC-94DE-E279-10B27707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FOREIGN KEY on CREATE TABLE</a:t>
            </a:r>
          </a:p>
          <a:p>
            <a:r>
              <a:rPr lang="en-US" dirty="0"/>
              <a:t>The following SQL creates a FOREIGN KEY constraint on the "</a:t>
            </a:r>
            <a:r>
              <a:rPr lang="en-US" dirty="0" err="1"/>
              <a:t>PersonID</a:t>
            </a:r>
            <a:r>
              <a:rPr lang="en-US" dirty="0"/>
              <a:t>" column upon creation of the "Orders" table:</a:t>
            </a:r>
          </a:p>
          <a:p>
            <a:r>
              <a:rPr lang="en-US" dirty="0"/>
              <a:t>CREATE TABLE Orders (</a:t>
            </a:r>
          </a:p>
          <a:p>
            <a:pPr marL="0" indent="0">
              <a:buNone/>
            </a:pPr>
            <a:r>
              <a:rPr lang="en-US" dirty="0"/>
              <a:t> OrderID int PRIMARY KEY,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OrderNumber</a:t>
            </a:r>
            <a:r>
              <a:rPr lang="en-US" dirty="0"/>
              <a:t> int NOT NULL,</a:t>
            </a:r>
          </a:p>
          <a:p>
            <a:pPr marL="0" indent="0">
              <a:buNone/>
            </a:pPr>
            <a:r>
              <a:rPr lang="en-US" dirty="0" err="1"/>
              <a:t>PersonID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CONSTRAINT </a:t>
            </a:r>
            <a:r>
              <a:rPr lang="en-US" dirty="0" err="1"/>
              <a:t>fk_Person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FOREIGN KEY (</a:t>
            </a:r>
            <a:r>
              <a:rPr lang="en-US" dirty="0" err="1"/>
              <a:t>PersonID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REFERENCES Persons(</a:t>
            </a:r>
            <a:r>
              <a:rPr lang="en-US" dirty="0" err="1"/>
              <a:t>PersonID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84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D4E4-C0F0-5CE7-DB6B-72703CB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01C9-3C5D-7E76-C561-D8CBBD6D4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FOREIGN KEY on ALTER TABLE</a:t>
            </a:r>
          </a:p>
          <a:p>
            <a:r>
              <a:rPr lang="en-US" dirty="0"/>
              <a:t>To create a FOREIGN KEY constraint on the "</a:t>
            </a:r>
            <a:r>
              <a:rPr lang="en-US" dirty="0" err="1"/>
              <a:t>PersonID</a:t>
            </a:r>
            <a:r>
              <a:rPr lang="en-US" dirty="0"/>
              <a:t>" column after the "Orders" table is created, use the following SQL:</a:t>
            </a:r>
          </a:p>
          <a:p>
            <a:r>
              <a:rPr lang="en-US" dirty="0"/>
              <a:t>ALTER TABLE Orders</a:t>
            </a:r>
          </a:p>
          <a:p>
            <a:pPr marL="0" indent="0">
              <a:buNone/>
            </a:pPr>
            <a:r>
              <a:rPr lang="en-US" dirty="0"/>
              <a:t>ADD CONSTRAINT </a:t>
            </a:r>
            <a:r>
              <a:rPr lang="en-US" dirty="0" err="1"/>
              <a:t>fk_Person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FOREIGN KEY (</a:t>
            </a:r>
            <a:r>
              <a:rPr lang="en-US" dirty="0" err="1"/>
              <a:t>PersonID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REFERENCES Persons(</a:t>
            </a:r>
            <a:r>
              <a:rPr lang="en-US" dirty="0" err="1"/>
              <a:t>PersonID</a:t>
            </a: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46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5819-0497-6B3B-CAE5-9507E495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20629-A432-E086-1ED6-CBCED83CC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a FOREIGN KEY Constraint</a:t>
            </a:r>
          </a:p>
          <a:p>
            <a:r>
              <a:rPr lang="en-US" dirty="0"/>
              <a:t>To drop a FOREIGN KEY constraint, use the following SQL:</a:t>
            </a:r>
          </a:p>
          <a:p>
            <a:endParaRPr lang="en-US" dirty="0"/>
          </a:p>
          <a:p>
            <a:r>
              <a:rPr lang="en-US" dirty="0"/>
              <a:t>ALTER TABLE Orders</a:t>
            </a:r>
          </a:p>
          <a:p>
            <a:pPr marL="0" indent="0">
              <a:buNone/>
            </a:pPr>
            <a:r>
              <a:rPr lang="en-US" dirty="0"/>
              <a:t>DROP FOREIGN KEY </a:t>
            </a:r>
            <a:r>
              <a:rPr lang="en-US" dirty="0" err="1"/>
              <a:t>fk_Person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583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288D-B316-A2FC-5591-56C3308A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3761B-CF47-9371-1853-3917F05F2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81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372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Garg</dc:creator>
  <cp:lastModifiedBy>Navin Garg</cp:lastModifiedBy>
  <cp:revision>6</cp:revision>
  <dcterms:created xsi:type="dcterms:W3CDTF">2026-07-30T04:31:10Z</dcterms:created>
  <dcterms:modified xsi:type="dcterms:W3CDTF">2026-07-30T04:42:25Z</dcterms:modified>
</cp:coreProperties>
</file>